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590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598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856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55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34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927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0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555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154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79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86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0747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2333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633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255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9452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987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2C5207D-AC60-43E3-A540-389DF0DC0A32}" type="datetimeFigureOut">
              <a:rPr lang="en-US" smtClean="0"/>
              <a:t>10-Aug-26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2603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D832B-66CE-0D0C-D461-8D7EAC097B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err="1"/>
              <a:t>WebDrivers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B2A275-B89A-8B29-B61E-6BF0D0C204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-</a:t>
            </a:r>
            <a:r>
              <a:rPr lang="en-US" dirty="0" err="1"/>
              <a:t>Subramaniya</a:t>
            </a:r>
            <a:r>
              <a:rPr lang="en-US" dirty="0"/>
              <a:t> KP</a:t>
            </a:r>
          </a:p>
        </p:txBody>
      </p:sp>
    </p:spTree>
    <p:extLst>
      <p:ext uri="{BB962C8B-B14F-4D97-AF65-F5344CB8AC3E}">
        <p14:creationId xmlns:p14="http://schemas.microsoft.com/office/powerpoint/2010/main" val="1229298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79DEE-9B76-AF75-A417-9EA874578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webdriver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17A8B-FCCD-8D92-5A74-0F0369066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Opensource framework designed to automate web browsers natively across platforms.</a:t>
            </a:r>
          </a:p>
          <a:p>
            <a:r>
              <a:rPr lang="en-US" dirty="0"/>
              <a:t>It communicates directly with the browser instances without requiring heavy proxy servers.</a:t>
            </a:r>
          </a:p>
          <a:p>
            <a:r>
              <a:rPr lang="en-US" dirty="0"/>
              <a:t>It mimics action like clicking, typing, getting text, etc.</a:t>
            </a:r>
          </a:p>
          <a:p>
            <a:r>
              <a:rPr lang="en-US" b="1" dirty="0"/>
              <a:t>Architecture: </a:t>
            </a:r>
            <a:r>
              <a:rPr lang="en-US" altLang="en-US" dirty="0"/>
              <a:t>Client Code (Java/Python/C#) </a:t>
            </a:r>
            <a:r>
              <a:rPr lang="en-US" altLang="en-US" dirty="0">
                <a:latin typeface="Google Sans Text"/>
              </a:rPr>
              <a:t>-&gt;</a:t>
            </a:r>
            <a:r>
              <a:rPr lang="en-US" altLang="en-US" dirty="0"/>
              <a:t> Language Bindings -&gt;Browser Driver Binary (e.g., </a:t>
            </a:r>
            <a:r>
              <a:rPr lang="en-US" altLang="en-US" dirty="0" err="1"/>
              <a:t>chromedriver</a:t>
            </a:r>
            <a:r>
              <a:rPr lang="en-US" altLang="en-US" dirty="0"/>
              <a:t>) -&gt; Native Browser Engine.</a:t>
            </a:r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45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F8660-CA48-EF0E-8E28-90EA5F947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69072"/>
          </a:xfrm>
        </p:spPr>
        <p:txBody>
          <a:bodyPr/>
          <a:lstStyle/>
          <a:p>
            <a:r>
              <a:rPr lang="en-US" sz="3200" dirty="0"/>
              <a:t>Browser Management &amp; Navigation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9A600-C2ED-9DA1-0B9B-A25D89379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21790"/>
            <a:ext cx="11152695" cy="50551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These methods control browser lifecycle, window properties, and page navigation.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/>
              <a:t>driver.get</a:t>
            </a:r>
            <a:r>
              <a:rPr lang="en-US" dirty="0"/>
              <a:t>(</a:t>
            </a:r>
            <a:r>
              <a:rPr lang="en-US" dirty="0" err="1"/>
              <a:t>url</a:t>
            </a:r>
            <a:r>
              <a:rPr lang="en-US" dirty="0"/>
              <a:t>): Opens the specified URL in the current browser window.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/>
              <a:t>driver.navigate</a:t>
            </a:r>
            <a:r>
              <a:rPr lang="en-US" dirty="0"/>
              <a:t>().to(</a:t>
            </a:r>
            <a:r>
              <a:rPr lang="en-US" dirty="0" err="1"/>
              <a:t>url</a:t>
            </a:r>
            <a:r>
              <a:rPr lang="en-US" dirty="0"/>
              <a:t>): Loads a new web page (supports browser history navigation).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/>
              <a:t>driver.navigate</a:t>
            </a:r>
            <a:r>
              <a:rPr lang="en-US" dirty="0"/>
              <a:t>().back() / .forward(): Moves backward or forward in the browser history.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/>
              <a:t>driver.navigate</a:t>
            </a:r>
            <a:r>
              <a:rPr lang="en-US" dirty="0"/>
              <a:t>().refresh(): Reloads the current page.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/>
              <a:t>driver.getTitle</a:t>
            </a:r>
            <a:r>
              <a:rPr lang="en-US" dirty="0"/>
              <a:t>(): Fetches the title string of the active page.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/>
              <a:t>driver.getCurrentUrl</a:t>
            </a:r>
            <a:r>
              <a:rPr lang="en-US" dirty="0"/>
              <a:t>(): Returns the full URL string currently loaded in the browser.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/>
              <a:t>driver.close</a:t>
            </a:r>
            <a:r>
              <a:rPr lang="en-US" dirty="0"/>
              <a:t>(): Closes the current active window/tab.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/>
              <a:t>driver.quit</a:t>
            </a:r>
            <a:r>
              <a:rPr lang="en-US" dirty="0"/>
              <a:t>(): Terminates all open driver instances, windows, and background binary server processes.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27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3997A-244E-35E1-05CD-B773D8274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207621"/>
            <a:ext cx="9404723" cy="753913"/>
          </a:xfrm>
        </p:spPr>
        <p:txBody>
          <a:bodyPr/>
          <a:lstStyle/>
          <a:p>
            <a:r>
              <a:rPr lang="en-US" dirty="0"/>
              <a:t>Element Locating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31B21-648B-96DC-0D6F-47917F625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84082"/>
            <a:ext cx="10643647" cy="54958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Locating strategies used to find elements on the DOM before executing actions.</a:t>
            </a:r>
          </a:p>
          <a:p>
            <a:r>
              <a:rPr lang="en-US" sz="1600" dirty="0" err="1"/>
              <a:t>driver.findElement</a:t>
            </a:r>
            <a:r>
              <a:rPr lang="en-US" sz="1600" dirty="0"/>
              <a:t>(By locator): Finds the </a:t>
            </a:r>
            <a:r>
              <a:rPr lang="en-US" sz="1600" b="1" dirty="0"/>
              <a:t>first</a:t>
            </a:r>
            <a:r>
              <a:rPr lang="en-US" sz="1600" dirty="0"/>
              <a:t> matching </a:t>
            </a:r>
            <a:r>
              <a:rPr lang="en-US" sz="1600" dirty="0" err="1"/>
              <a:t>WebElement</a:t>
            </a:r>
            <a:r>
              <a:rPr lang="en-US" sz="1600" dirty="0"/>
              <a:t> on the current page; throws </a:t>
            </a:r>
            <a:r>
              <a:rPr lang="en-US" sz="1600" dirty="0" err="1"/>
              <a:t>NoSuchElementException</a:t>
            </a:r>
            <a:r>
              <a:rPr lang="en-US" sz="1600" dirty="0"/>
              <a:t> if not found.</a:t>
            </a:r>
          </a:p>
          <a:p>
            <a:r>
              <a:rPr lang="en-US" sz="1600" dirty="0" err="1"/>
              <a:t>driver.findElements</a:t>
            </a:r>
            <a:r>
              <a:rPr lang="en-US" sz="1600" dirty="0"/>
              <a:t>(By locator): Finds </a:t>
            </a:r>
            <a:r>
              <a:rPr lang="en-US" sz="1600" b="1" dirty="0"/>
              <a:t>all</a:t>
            </a:r>
            <a:r>
              <a:rPr lang="en-US" sz="1600" dirty="0"/>
              <a:t> matching </a:t>
            </a:r>
            <a:r>
              <a:rPr lang="en-US" sz="1600" dirty="0" err="1"/>
              <a:t>WebElement</a:t>
            </a:r>
            <a:r>
              <a:rPr lang="en-US" sz="1600" dirty="0"/>
              <a:t> objects on the page; returns an empty list if none match.</a:t>
            </a:r>
          </a:p>
          <a:p>
            <a:endParaRPr lang="en-US" sz="1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6681D7-B98D-8A54-1E81-C617FA3F8F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804311"/>
              </p:ext>
            </p:extLst>
          </p:nvPr>
        </p:nvGraphicFramePr>
        <p:xfrm>
          <a:off x="1053034" y="2603214"/>
          <a:ext cx="10085931" cy="3976695"/>
        </p:xfrm>
        <a:graphic>
          <a:graphicData uri="http://schemas.openxmlformats.org/drawingml/2006/table">
            <a:tbl>
              <a:tblPr/>
              <a:tblGrid>
                <a:gridCol w="3361977">
                  <a:extLst>
                    <a:ext uri="{9D8B030D-6E8A-4147-A177-3AD203B41FA5}">
                      <a16:colId xmlns:a16="http://schemas.microsoft.com/office/drawing/2014/main" val="4287390554"/>
                    </a:ext>
                  </a:extLst>
                </a:gridCol>
                <a:gridCol w="3361977">
                  <a:extLst>
                    <a:ext uri="{9D8B030D-6E8A-4147-A177-3AD203B41FA5}">
                      <a16:colId xmlns:a16="http://schemas.microsoft.com/office/drawing/2014/main" val="1204551320"/>
                    </a:ext>
                  </a:extLst>
                </a:gridCol>
                <a:gridCol w="3361977">
                  <a:extLst>
                    <a:ext uri="{9D8B030D-6E8A-4147-A177-3AD203B41FA5}">
                      <a16:colId xmlns:a16="http://schemas.microsoft.com/office/drawing/2014/main" val="3781016235"/>
                    </a:ext>
                  </a:extLst>
                </a:gridCol>
              </a:tblGrid>
              <a:tr h="35773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  <a:latin typeface="Google Sans Text"/>
                        </a:rPr>
                        <a:t>Locator Strategy</a:t>
                      </a:r>
                      <a:endParaRPr lang="en-US" dirty="0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  <a:latin typeface="Google Sans Text"/>
                        </a:rPr>
                        <a:t>Method Syntax</a:t>
                      </a:r>
                      <a:endParaRPr lang="en-US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  <a:latin typeface="Google Sans Text"/>
                        </a:rPr>
                        <a:t>Best Used For</a:t>
                      </a:r>
                      <a:endParaRPr lang="en-US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156815"/>
                  </a:ext>
                </a:extLst>
              </a:tr>
              <a:tr h="52292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  <a:latin typeface="Google Sans Text"/>
                        </a:rPr>
                        <a:t>ID</a:t>
                      </a:r>
                      <a:endParaRPr lang="en-US" dirty="0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 i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  <a:latin typeface="Google Sans Text"/>
                        </a:rPr>
                        <a:t>By.id("elementId")</a:t>
                      </a:r>
                      <a:endParaRPr lang="en-US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  <a:latin typeface="Google Sans Text"/>
                        </a:rPr>
                        <a:t>Unique elements </a:t>
                      </a:r>
                      <a:r>
                        <a:rPr lang="en-US" i="1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  <a:latin typeface="Google Sans Text"/>
                        </a:rPr>
                        <a:t>(Fastest)</a:t>
                      </a:r>
                      <a:endParaRPr lang="en-US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631601"/>
                  </a:ext>
                </a:extLst>
              </a:tr>
              <a:tr h="52292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  <a:latin typeface="Google Sans Text"/>
                        </a:rPr>
                        <a:t>Name</a:t>
                      </a:r>
                      <a:endParaRPr lang="en-US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 i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  <a:latin typeface="Google Sans Text"/>
                        </a:rPr>
                        <a:t>By.name("elementName")</a:t>
                      </a:r>
                      <a:endParaRPr lang="en-US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  <a:latin typeface="Google Sans Text"/>
                        </a:rPr>
                        <a:t>Form inputs and control fields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185573"/>
                  </a:ext>
                </a:extLst>
              </a:tr>
              <a:tr h="60539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  <a:latin typeface="Google Sans Text"/>
                        </a:rPr>
                        <a:t>CSS Selector</a:t>
                      </a:r>
                      <a:endParaRPr lang="en-US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 i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  <a:latin typeface="Google Sans Text"/>
                        </a:rPr>
                        <a:t>By.cssSelector("tag.class #id")</a:t>
                      </a:r>
                      <a:endParaRPr lang="en-US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  <a:latin typeface="Google Sans Text"/>
                        </a:rPr>
                        <a:t>High performance, complex DOM paths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635238"/>
                  </a:ext>
                </a:extLst>
              </a:tr>
              <a:tr h="60539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  <a:latin typeface="Google Sans Text"/>
                        </a:rPr>
                        <a:t>XPath</a:t>
                      </a:r>
                      <a:endParaRPr lang="en-US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 i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  <a:latin typeface="Google Sans Text"/>
                        </a:rPr>
                        <a:t>By.xpath("//tag[@attr='value']")</a:t>
                      </a:r>
                      <a:endParaRPr lang="en-US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  <a:latin typeface="Google Sans Text"/>
                        </a:rPr>
                        <a:t>Dynamic trees, text matching, axes navigation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903408"/>
                  </a:ext>
                </a:extLst>
              </a:tr>
              <a:tr h="52292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  <a:latin typeface="Google Sans Text"/>
                        </a:rPr>
                        <a:t>Class Name</a:t>
                      </a:r>
                      <a:endParaRPr lang="en-US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 i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  <a:latin typeface="Google Sans Text"/>
                        </a:rPr>
                        <a:t>By.className("className")</a:t>
                      </a:r>
                      <a:endParaRPr lang="en-US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  <a:latin typeface="Google Sans Text"/>
                        </a:rPr>
                        <a:t>Generic elements sharing styles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499433"/>
                  </a:ext>
                </a:extLst>
              </a:tr>
              <a:tr h="60539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  <a:latin typeface="Google Sans Text"/>
                        </a:rPr>
                        <a:t>Link Text</a:t>
                      </a:r>
                      <a:endParaRPr lang="en-US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 i="0" dirty="0" err="1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  <a:latin typeface="Google Sans Text"/>
                        </a:rPr>
                        <a:t>By.linkText</a:t>
                      </a:r>
                      <a:r>
                        <a:rPr lang="en-US" b="0" i="0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  <a:latin typeface="Google Sans Text"/>
                        </a:rPr>
                        <a:t>("Exact Text")</a:t>
                      </a:r>
                      <a:endParaRPr lang="en-US" dirty="0"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  <a:latin typeface="Google Sans Text"/>
                        </a:rPr>
                        <a:t>Anchor </a:t>
                      </a:r>
                      <a:r>
                        <a:rPr lang="en-US" b="0" i="0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  <a:latin typeface="Google Sans Text"/>
                        </a:rPr>
                        <a:t>&lt;a&gt;</a:t>
                      </a:r>
                      <a:r>
                        <a:rPr lang="en-US" dirty="0"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  <a:latin typeface="Google Sans Text"/>
                        </a:rPr>
                        <a:t> tags with precise string matches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700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4454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06125-7B09-FE40-FBED-3287FB807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69914"/>
            <a:ext cx="9404723" cy="735059"/>
          </a:xfrm>
        </p:spPr>
        <p:txBody>
          <a:bodyPr/>
          <a:lstStyle/>
          <a:p>
            <a:r>
              <a:rPr lang="en-US" dirty="0" err="1"/>
              <a:t>WebElement</a:t>
            </a:r>
            <a:r>
              <a:rPr lang="en-US" dirty="0"/>
              <a:t> Interaction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CA083-453B-9FB1-1025-1F4DF66BC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932" y="1291473"/>
            <a:ext cx="10515600" cy="530509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Methods invoked directly on an identified </a:t>
            </a:r>
            <a:r>
              <a:rPr lang="en-US" dirty="0" err="1"/>
              <a:t>WebElement</a:t>
            </a:r>
            <a:r>
              <a:rPr lang="en-US" sz="2400" dirty="0"/>
              <a:t> instance to perform actions.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err="1"/>
              <a:t>element.click</a:t>
            </a:r>
            <a:r>
              <a:rPr lang="en-US" dirty="0"/>
              <a:t>()</a:t>
            </a:r>
            <a:r>
              <a:rPr lang="en-US" sz="2400" dirty="0"/>
              <a:t>: Simulates a click action on buttons, links, checkboxes, or radio controls.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err="1"/>
              <a:t>element.sendKeys</a:t>
            </a:r>
            <a:r>
              <a:rPr lang="en-US" dirty="0"/>
              <a:t>("text")</a:t>
            </a:r>
            <a:r>
              <a:rPr lang="en-US" sz="2400" dirty="0"/>
              <a:t>: Types text input into input fields, text areas, or upload inputs.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err="1"/>
              <a:t>element.clear</a:t>
            </a:r>
            <a:r>
              <a:rPr lang="en-US" dirty="0"/>
              <a:t>()</a:t>
            </a:r>
            <a:r>
              <a:rPr lang="en-US" sz="2400" dirty="0"/>
              <a:t>: Erases existing text content from an editable input field.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err="1"/>
              <a:t>element.getText</a:t>
            </a:r>
            <a:r>
              <a:rPr lang="en-US" dirty="0"/>
              <a:t>()</a:t>
            </a:r>
            <a:r>
              <a:rPr lang="en-US" sz="2400" dirty="0"/>
              <a:t>: Extracts the visible inner text of an element (including child nodes).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err="1"/>
              <a:t>element.getAttribute</a:t>
            </a:r>
            <a:r>
              <a:rPr lang="en-US" dirty="0"/>
              <a:t>("</a:t>
            </a:r>
            <a:r>
              <a:rPr lang="en-US" dirty="0" err="1"/>
              <a:t>attributeName</a:t>
            </a:r>
            <a:r>
              <a:rPr lang="en-US" dirty="0"/>
              <a:t>")</a:t>
            </a:r>
            <a:r>
              <a:rPr lang="en-US" sz="2400" dirty="0"/>
              <a:t>: Fetches the value of an HTML attribute (e.g., </a:t>
            </a:r>
            <a:r>
              <a:rPr lang="en-US" dirty="0" err="1"/>
              <a:t>href</a:t>
            </a:r>
            <a:r>
              <a:rPr lang="en-US" sz="2400" dirty="0"/>
              <a:t>, </a:t>
            </a:r>
            <a:r>
              <a:rPr lang="en-US" dirty="0"/>
              <a:t>value</a:t>
            </a:r>
            <a:r>
              <a:rPr lang="en-US" sz="2400" dirty="0"/>
              <a:t>, </a:t>
            </a:r>
            <a:r>
              <a:rPr lang="en-US" dirty="0"/>
              <a:t>class</a:t>
            </a:r>
            <a:r>
              <a:rPr lang="en-US" sz="2400" dirty="0"/>
              <a:t>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err="1"/>
              <a:t>element.getCssValue</a:t>
            </a:r>
            <a:r>
              <a:rPr lang="en-US" dirty="0"/>
              <a:t>("property")</a:t>
            </a:r>
            <a:r>
              <a:rPr lang="en-US" sz="2400" dirty="0"/>
              <a:t>: Retrieves computed CSS styles (e.g., </a:t>
            </a:r>
            <a:r>
              <a:rPr lang="en-US" dirty="0"/>
              <a:t>color</a:t>
            </a:r>
            <a:r>
              <a:rPr lang="en-US" sz="2400" dirty="0"/>
              <a:t>, </a:t>
            </a:r>
            <a:r>
              <a:rPr lang="en-US" dirty="0"/>
              <a:t>font-size</a:t>
            </a:r>
            <a:r>
              <a:rPr lang="en-US" sz="2400" dirty="0"/>
              <a:t>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err="1"/>
              <a:t>element.submit</a:t>
            </a:r>
            <a:r>
              <a:rPr lang="en-US" dirty="0"/>
              <a:t>()</a:t>
            </a:r>
            <a:r>
              <a:rPr lang="en-US" sz="2400" dirty="0"/>
              <a:t>: Submits an HTML form containing the element.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39427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8B216-AD47-22A5-4CF9-260AC995E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505" y="195443"/>
            <a:ext cx="10515600" cy="832080"/>
          </a:xfrm>
        </p:spPr>
        <p:txBody>
          <a:bodyPr/>
          <a:lstStyle/>
          <a:p>
            <a:r>
              <a:rPr lang="en-US" dirty="0"/>
              <a:t>Element State Verification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001CA-C8BB-C9F9-C9EA-147174ECC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505" y="1512347"/>
            <a:ext cx="11011294" cy="35781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Boolean methods to validate the condition of elements prior to performing actions.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/>
              <a:t>element.isDisplayed</a:t>
            </a:r>
            <a:r>
              <a:rPr lang="en-US" dirty="0"/>
              <a:t>()</a:t>
            </a:r>
            <a:r>
              <a:rPr lang="en-US" sz="2400" dirty="0"/>
              <a:t>: Returns </a:t>
            </a:r>
            <a:r>
              <a:rPr lang="en-US" dirty="0"/>
              <a:t>true</a:t>
            </a:r>
            <a:r>
              <a:rPr lang="en-US" sz="2400" dirty="0"/>
              <a:t> if the element is rendered and visible on the page.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/>
              <a:t>element.isEnabled</a:t>
            </a:r>
            <a:r>
              <a:rPr lang="en-US" dirty="0"/>
              <a:t>()</a:t>
            </a:r>
            <a:r>
              <a:rPr lang="en-US" sz="2400" dirty="0"/>
              <a:t>: Returns </a:t>
            </a:r>
            <a:r>
              <a:rPr lang="en-US" dirty="0"/>
              <a:t>true</a:t>
            </a:r>
            <a:r>
              <a:rPr lang="en-US" sz="2400" dirty="0"/>
              <a:t> if the element is active and available for interaction (not disabled).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/>
              <a:t>element.isSelected</a:t>
            </a:r>
            <a:r>
              <a:rPr lang="en-US" dirty="0"/>
              <a:t>()</a:t>
            </a:r>
            <a:r>
              <a:rPr lang="en-US" sz="2400" dirty="0"/>
              <a:t>: Returns </a:t>
            </a:r>
            <a:r>
              <a:rPr lang="en-US" dirty="0"/>
              <a:t>true</a:t>
            </a:r>
            <a:r>
              <a:rPr lang="en-US" sz="2400" dirty="0"/>
              <a:t> if a checkbox, radio button, or select option is currently checked/selected.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08077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6165D-AA65-8A98-EC09-45B21BCCA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42070"/>
            <a:ext cx="9404723" cy="735059"/>
          </a:xfrm>
        </p:spPr>
        <p:txBody>
          <a:bodyPr/>
          <a:lstStyle/>
          <a:p>
            <a:r>
              <a:rPr lang="en-US" dirty="0"/>
              <a:t>Context Switching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F55AB-EC46-5D77-15A7-831640A7C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220" y="1150070"/>
            <a:ext cx="8946541" cy="538113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Used to control elements within multi-window, frame-based, or alert-driven application layouts.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Alert Handling (</a:t>
            </a:r>
            <a:r>
              <a:rPr lang="en-US" b="1" dirty="0" err="1"/>
              <a:t>driver.switchTo</a:t>
            </a:r>
            <a:r>
              <a:rPr lang="en-US" b="1" dirty="0"/>
              <a:t>().alert()):</a:t>
            </a:r>
            <a:endParaRPr lang="en-US" dirty="0"/>
          </a:p>
          <a:p>
            <a:pPr lvl="1"/>
            <a:r>
              <a:rPr lang="en-US" dirty="0"/>
              <a:t>.accept(): Clicks "OK" or "Confirm" on a JavaScript alert.</a:t>
            </a:r>
          </a:p>
          <a:p>
            <a:pPr lvl="1"/>
            <a:r>
              <a:rPr lang="en-US" dirty="0"/>
              <a:t>.dismiss(): Clicks "Cancel" or closes a prompt.</a:t>
            </a:r>
          </a:p>
          <a:p>
            <a:pPr lvl="1"/>
            <a:r>
              <a:rPr lang="en-US" dirty="0"/>
              <a:t>.</a:t>
            </a:r>
            <a:r>
              <a:rPr lang="en-US" dirty="0" err="1"/>
              <a:t>getText</a:t>
            </a:r>
            <a:r>
              <a:rPr lang="en-US" dirty="0"/>
              <a:t>(): Reads the text content of the alert box.</a:t>
            </a:r>
          </a:p>
          <a:p>
            <a:pPr lvl="1"/>
            <a:r>
              <a:rPr lang="en-US" dirty="0"/>
              <a:t>.</a:t>
            </a:r>
            <a:r>
              <a:rPr lang="en-US" dirty="0" err="1"/>
              <a:t>sendKeys</a:t>
            </a:r>
            <a:r>
              <a:rPr lang="en-US" dirty="0"/>
              <a:t>("input"): Enters text into a prompt alert.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Frames (</a:t>
            </a:r>
            <a:r>
              <a:rPr lang="en-US" b="1" dirty="0" err="1"/>
              <a:t>driver.switchTo</a:t>
            </a:r>
            <a:r>
              <a:rPr lang="en-US" b="1" dirty="0"/>
              <a:t>().frame()):</a:t>
            </a:r>
            <a:endParaRPr lang="en-US" dirty="0"/>
          </a:p>
          <a:p>
            <a:pPr lvl="1"/>
            <a:r>
              <a:rPr lang="en-US" dirty="0"/>
              <a:t>.frame(index) / .frame("</a:t>
            </a:r>
            <a:r>
              <a:rPr lang="en-US" dirty="0" err="1"/>
              <a:t>nameOrId</a:t>
            </a:r>
            <a:r>
              <a:rPr lang="en-US" dirty="0"/>
              <a:t>") / .frame(</a:t>
            </a:r>
            <a:r>
              <a:rPr lang="en-US" dirty="0" err="1"/>
              <a:t>webElement</a:t>
            </a:r>
            <a:r>
              <a:rPr lang="en-US" dirty="0"/>
              <a:t>): Shifts focus to an embedded &lt;</a:t>
            </a:r>
            <a:r>
              <a:rPr lang="en-US" dirty="0" err="1"/>
              <a:t>iframe</a:t>
            </a:r>
            <a:r>
              <a:rPr lang="en-US" dirty="0"/>
              <a:t>&gt;.</a:t>
            </a:r>
          </a:p>
          <a:p>
            <a:pPr lvl="1"/>
            <a:r>
              <a:rPr lang="en-US" dirty="0"/>
              <a:t>.</a:t>
            </a:r>
            <a:r>
              <a:rPr lang="en-US" dirty="0" err="1"/>
              <a:t>defaultContent</a:t>
            </a:r>
            <a:r>
              <a:rPr lang="en-US" dirty="0"/>
              <a:t>(): Switches focus back to the top-level main page.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Windows &amp; Tabs (</a:t>
            </a:r>
            <a:r>
              <a:rPr lang="en-US" b="1" dirty="0" err="1"/>
              <a:t>driver.switchTo</a:t>
            </a:r>
            <a:r>
              <a:rPr lang="en-US" b="1" dirty="0"/>
              <a:t>().window(handle)):</a:t>
            </a:r>
            <a:endParaRPr lang="en-US" dirty="0"/>
          </a:p>
          <a:p>
            <a:pPr lvl="1"/>
            <a:r>
              <a:rPr lang="en-US" dirty="0" err="1"/>
              <a:t>driver.getWindowHandle</a:t>
            </a:r>
            <a:r>
              <a:rPr lang="en-US" dirty="0"/>
              <a:t>(): Gets the unique handle ID of the current window.</a:t>
            </a:r>
          </a:p>
          <a:p>
            <a:pPr lvl="1"/>
            <a:r>
              <a:rPr lang="en-US" dirty="0" err="1"/>
              <a:t>driver.getWindowHandles</a:t>
            </a:r>
            <a:r>
              <a:rPr lang="en-US" dirty="0"/>
              <a:t>(): Retrieves a set of handle IDs for all open windows.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077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3F734-179C-CEAF-9A31-DFEF2D5A0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169914"/>
            <a:ext cx="9404723" cy="678498"/>
          </a:xfrm>
        </p:spPr>
        <p:txBody>
          <a:bodyPr/>
          <a:lstStyle/>
          <a:p>
            <a:r>
              <a:rPr lang="en-US" dirty="0"/>
              <a:t>Synchronization &amp; Wait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E33B4-7621-B41B-5766-0AB8E80D6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131216"/>
            <a:ext cx="10152292" cy="54392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 handle asynchronous loading, dynamic AJAX calls, and SPA state updates without hardcoded sleeps.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Implicit Wait:</a:t>
            </a:r>
            <a:endParaRPr lang="en-US" dirty="0"/>
          </a:p>
          <a:p>
            <a:pPr lvl="1"/>
            <a:r>
              <a:rPr lang="en-US" dirty="0"/>
              <a:t>Global setting for the driver instance to poll the DOM for a set duration when searching for missing elements.</a:t>
            </a:r>
          </a:p>
          <a:p>
            <a:pPr lvl="1"/>
            <a:r>
              <a:rPr lang="en-US" i="1" dirty="0"/>
              <a:t>Example:</a:t>
            </a:r>
            <a:r>
              <a:rPr lang="en-US" dirty="0"/>
              <a:t> </a:t>
            </a:r>
            <a:r>
              <a:rPr lang="en-US" dirty="0" err="1"/>
              <a:t>driver.manage</a:t>
            </a:r>
            <a:r>
              <a:rPr lang="en-US" dirty="0"/>
              <a:t>().timeouts().</a:t>
            </a:r>
            <a:r>
              <a:rPr lang="en-US" dirty="0" err="1"/>
              <a:t>implicitlyWait</a:t>
            </a:r>
            <a:r>
              <a:rPr lang="en-US" dirty="0"/>
              <a:t>(</a:t>
            </a:r>
            <a:r>
              <a:rPr lang="en-US" dirty="0" err="1"/>
              <a:t>Duration.ofSeconds</a:t>
            </a:r>
            <a:r>
              <a:rPr lang="en-US" dirty="0"/>
              <a:t>(10));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Explicit Wait (</a:t>
            </a:r>
            <a:r>
              <a:rPr lang="en-US" b="1" dirty="0" err="1"/>
              <a:t>WebDriverWait</a:t>
            </a:r>
            <a:r>
              <a:rPr lang="en-US" b="1" dirty="0"/>
              <a:t>):</a:t>
            </a:r>
            <a:endParaRPr lang="en-US" dirty="0"/>
          </a:p>
          <a:p>
            <a:pPr lvl="1"/>
            <a:r>
              <a:rPr lang="en-US" dirty="0"/>
              <a:t>Dynamic conditional check that halts execution until a specific condition passes or time expires.</a:t>
            </a:r>
          </a:p>
          <a:p>
            <a:pPr lvl="1"/>
            <a:r>
              <a:rPr lang="en-US" i="1" dirty="0"/>
              <a:t>Conditions:</a:t>
            </a:r>
            <a:r>
              <a:rPr lang="en-US" dirty="0"/>
              <a:t> </a:t>
            </a:r>
            <a:r>
              <a:rPr lang="en-US" dirty="0" err="1"/>
              <a:t>visibilityOfElementLocated</a:t>
            </a:r>
            <a:r>
              <a:rPr lang="en-US" dirty="0"/>
              <a:t>(), </a:t>
            </a:r>
            <a:r>
              <a:rPr lang="en-US" dirty="0" err="1"/>
              <a:t>elementToBeClickable</a:t>
            </a:r>
            <a:r>
              <a:rPr lang="en-US" dirty="0"/>
              <a:t>(), </a:t>
            </a:r>
            <a:r>
              <a:rPr lang="en-US" dirty="0" err="1"/>
              <a:t>presenceOfElementLocated</a:t>
            </a:r>
            <a:r>
              <a:rPr lang="en-US" dirty="0"/>
              <a:t>().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Fluent Wait:</a:t>
            </a:r>
            <a:endParaRPr lang="en-US" dirty="0"/>
          </a:p>
          <a:p>
            <a:pPr lvl="1"/>
            <a:r>
              <a:rPr lang="en-US" dirty="0"/>
              <a:t>Advanced explicit wait with customizable polling intervals and specific exception suppression (e.g., ignoring </a:t>
            </a:r>
            <a:r>
              <a:rPr lang="en-US" dirty="0" err="1"/>
              <a:t>NoSuchElementException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36143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B563F-0760-50E9-5B77-EEE7E192D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9531"/>
          </a:xfrm>
        </p:spPr>
        <p:txBody>
          <a:bodyPr/>
          <a:lstStyle/>
          <a:p>
            <a:r>
              <a:rPr lang="en-US" dirty="0"/>
              <a:t>Advanced Interactions &amp; Best Practices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847F547-CD55-57F4-AC81-97A337252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3642"/>
            <a:ext cx="11049000" cy="3459636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Actions Class (Complex Gestures):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Used for hover actions (</a:t>
            </a:r>
            <a:r>
              <a:rPr lang="en-US" dirty="0" err="1"/>
              <a:t>moveToElement</a:t>
            </a:r>
            <a:r>
              <a:rPr lang="en-US" dirty="0"/>
              <a:t>), drag-and-drop (</a:t>
            </a:r>
            <a:r>
              <a:rPr lang="en-US" dirty="0" err="1"/>
              <a:t>dragAndDrop</a:t>
            </a:r>
            <a:r>
              <a:rPr lang="en-US" dirty="0"/>
              <a:t>), right-clicks (</a:t>
            </a:r>
            <a:r>
              <a:rPr lang="en-US" dirty="0" err="1"/>
              <a:t>contextClick</a:t>
            </a:r>
            <a:r>
              <a:rPr lang="en-US" dirty="0"/>
              <a:t>), and key combos.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Summary Best Practices:</a:t>
            </a:r>
            <a:endParaRPr lang="en-US" dirty="0"/>
          </a:p>
          <a:p>
            <a:pPr lvl="1"/>
            <a:r>
              <a:rPr lang="en-US" dirty="0"/>
              <a:t>Avoid hardcoded delays (</a:t>
            </a:r>
            <a:r>
              <a:rPr lang="en-US" dirty="0" err="1"/>
              <a:t>Thread.sleep</a:t>
            </a:r>
            <a:r>
              <a:rPr lang="en-US" dirty="0"/>
              <a:t>()).</a:t>
            </a:r>
          </a:p>
          <a:p>
            <a:pPr lvl="1"/>
            <a:r>
              <a:rPr lang="en-US" dirty="0"/>
              <a:t>Always call </a:t>
            </a:r>
            <a:r>
              <a:rPr lang="en-US" dirty="0" err="1"/>
              <a:t>driver.quit</a:t>
            </a:r>
            <a:r>
              <a:rPr lang="en-US" dirty="0"/>
              <a:t>() in a cleanup/teardown block (@After / finally).</a:t>
            </a:r>
          </a:p>
          <a:p>
            <a:pPr lvl="1"/>
            <a:r>
              <a:rPr lang="en-US" dirty="0"/>
              <a:t>Use explicit waits over implicit waits for dynamic single-page applications (SPAs).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4155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106</TotalTime>
  <Words>939</Words>
  <Application>Microsoft Office PowerPoint</Application>
  <PresentationFormat>Widescreen</PresentationFormat>
  <Paragraphs>87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Century Gothic</vt:lpstr>
      <vt:lpstr>Courier New</vt:lpstr>
      <vt:lpstr>Google Sans Text</vt:lpstr>
      <vt:lpstr>Wingdings</vt:lpstr>
      <vt:lpstr>Wingdings 3</vt:lpstr>
      <vt:lpstr>Ion</vt:lpstr>
      <vt:lpstr>WebDrivers </vt:lpstr>
      <vt:lpstr>What is webdriver?</vt:lpstr>
      <vt:lpstr>Browser Management &amp; Navigation Methods</vt:lpstr>
      <vt:lpstr>Element Locating Methods</vt:lpstr>
      <vt:lpstr>WebElement Interaction Methods</vt:lpstr>
      <vt:lpstr>Element State Verification Methods</vt:lpstr>
      <vt:lpstr>Context Switching Methods</vt:lpstr>
      <vt:lpstr>Synchronization &amp; Wait Methods</vt:lpstr>
      <vt:lpstr>Advanced Interactions &amp; Best Practices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Vidhiya Lakshmi S</dc:creator>
  <cp:lastModifiedBy>Vidhiya Lakshmi S</cp:lastModifiedBy>
  <cp:revision>23</cp:revision>
  <dcterms:created xsi:type="dcterms:W3CDTF">2026-08-06T16:14:52Z</dcterms:created>
  <dcterms:modified xsi:type="dcterms:W3CDTF">2026-08-10T05:20:11Z</dcterms:modified>
</cp:coreProperties>
</file>