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9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9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5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5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3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2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0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5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5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6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0747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3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3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45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8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2C5207D-AC60-43E3-A540-389DF0DC0A32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60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832B-66CE-0D0C-D461-8D7EAC097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Web Element Locators: CSS Selectors &amp; XPath in Selenium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2A275-B89A-8B29-B61E-6BF0D0C20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-</a:t>
            </a:r>
            <a:r>
              <a:rPr lang="en-US" dirty="0" err="1"/>
              <a:t>Subramaniya</a:t>
            </a:r>
            <a:r>
              <a:rPr lang="en-US" dirty="0"/>
              <a:t> KP</a:t>
            </a:r>
          </a:p>
        </p:txBody>
      </p:sp>
    </p:spTree>
    <p:extLst>
      <p:ext uri="{BB962C8B-B14F-4D97-AF65-F5344CB8AC3E}">
        <p14:creationId xmlns:p14="http://schemas.microsoft.com/office/powerpoint/2010/main" val="122929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9DEE-9B76-AF75-A417-9EA87457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locators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17A8B-FCCD-8D92-5A74-0F0369066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Locators tell Selenium how to find elements on a webpage (DOM).Reliable locators are the foundation of stable test automation</a:t>
            </a:r>
          </a:p>
          <a:p>
            <a:r>
              <a:rPr lang="en-US" dirty="0"/>
              <a:t>Locator Strategy Hierarchy:</a:t>
            </a:r>
          </a:p>
          <a:p>
            <a:pPr marL="0" indent="0">
              <a:buNone/>
            </a:pPr>
            <a:r>
              <a:rPr lang="en-US" dirty="0"/>
              <a:t>- id / name (Fastest, most stable)</a:t>
            </a:r>
          </a:p>
          <a:p>
            <a:pPr>
              <a:buFontTx/>
              <a:buChar char="-"/>
            </a:pPr>
            <a:r>
              <a:rPr lang="en-US" dirty="0"/>
              <a:t>CSS Selector (Fast, clean syntax, native browser engine support)</a:t>
            </a:r>
          </a:p>
          <a:p>
            <a:pPr>
              <a:buFontTx/>
              <a:buChar char="-"/>
            </a:pPr>
            <a:r>
              <a:rPr lang="en-US" dirty="0"/>
              <a:t>XPath (Extremely flexible, supports complex DOM traversal and text logic)</a:t>
            </a:r>
          </a:p>
          <a:p>
            <a:pPr>
              <a:buFontTx/>
              <a:buChar char="-"/>
            </a:pPr>
            <a:r>
              <a:rPr lang="en-US" dirty="0" err="1"/>
              <a:t>linkText</a:t>
            </a:r>
            <a:r>
              <a:rPr lang="en-US" dirty="0"/>
              <a:t> / </a:t>
            </a:r>
            <a:r>
              <a:rPr lang="en-US" dirty="0" err="1"/>
              <a:t>partialLinkText</a:t>
            </a:r>
            <a:r>
              <a:rPr lang="en-US" dirty="0"/>
              <a:t> / </a:t>
            </a:r>
            <a:r>
              <a:rPr lang="en-US" dirty="0" err="1"/>
              <a:t>tagName</a:t>
            </a:r>
            <a:r>
              <a:rPr lang="en-US" dirty="0"/>
              <a:t> / </a:t>
            </a:r>
            <a:r>
              <a:rPr lang="en-US" dirty="0" err="1"/>
              <a:t>className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4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8660-CA48-EF0E-8E28-90EA5F94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 — Basic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A600-C2ED-9DA1-0B9B-A25D8937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52695" cy="4351338"/>
          </a:xfrm>
        </p:spPr>
        <p:txBody>
          <a:bodyPr/>
          <a:lstStyle/>
          <a:p>
            <a:r>
              <a:rPr lang="en-US" sz="2400" dirty="0"/>
              <a:t>CSS Selectors match HTML tags based on their attributes, ID, class, or structure.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4F3966-2C3C-C4BD-5E31-3D5C10E12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839935"/>
              </p:ext>
            </p:extLst>
          </p:nvPr>
        </p:nvGraphicFramePr>
        <p:xfrm>
          <a:off x="989028" y="2519557"/>
          <a:ext cx="10213944" cy="3120077"/>
        </p:xfrm>
        <a:graphic>
          <a:graphicData uri="http://schemas.openxmlformats.org/drawingml/2006/table">
            <a:tbl>
              <a:tblPr/>
              <a:tblGrid>
                <a:gridCol w="2553486">
                  <a:extLst>
                    <a:ext uri="{9D8B030D-6E8A-4147-A177-3AD203B41FA5}">
                      <a16:colId xmlns:a16="http://schemas.microsoft.com/office/drawing/2014/main" val="4013421058"/>
                    </a:ext>
                  </a:extLst>
                </a:gridCol>
                <a:gridCol w="2553486">
                  <a:extLst>
                    <a:ext uri="{9D8B030D-6E8A-4147-A177-3AD203B41FA5}">
                      <a16:colId xmlns:a16="http://schemas.microsoft.com/office/drawing/2014/main" val="2129722222"/>
                    </a:ext>
                  </a:extLst>
                </a:gridCol>
                <a:gridCol w="2553486">
                  <a:extLst>
                    <a:ext uri="{9D8B030D-6E8A-4147-A177-3AD203B41FA5}">
                      <a16:colId xmlns:a16="http://schemas.microsoft.com/office/drawing/2014/main" val="3482740645"/>
                    </a:ext>
                  </a:extLst>
                </a:gridCol>
                <a:gridCol w="2553486">
                  <a:extLst>
                    <a:ext uri="{9D8B030D-6E8A-4147-A177-3AD203B41FA5}">
                      <a16:colId xmlns:a16="http://schemas.microsoft.com/office/drawing/2014/main" val="2826453997"/>
                    </a:ext>
                  </a:extLst>
                </a:gridCol>
              </a:tblGrid>
              <a:tr h="4886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Locator Type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Syntax Pattern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HTML Example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CSS Selector Example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207384"/>
                  </a:ext>
                </a:extLst>
              </a:tr>
              <a:tr h="4886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#id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&lt;input id="login-btn"&gt;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#login-btn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9410"/>
                  </a:ext>
                </a:extLst>
              </a:tr>
              <a:tr h="8270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Class Name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.class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&lt;button class="btn primary"&gt;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.btn.primary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359855"/>
                  </a:ext>
                </a:extLst>
              </a:tr>
              <a:tr h="4886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Tag &amp; Attribute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tag[attr='value']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&lt;input type="email"&gt;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input[type='email']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769450"/>
                  </a:ext>
                </a:extLst>
              </a:tr>
              <a:tr h="8270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Multiple Attributes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tag[attr1='v1'][attr2='v2']</a:t>
                      </a:r>
                      <a:endParaRPr lang="sv-SE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&lt;input name="user" type="text"&gt;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input[name='user'][type='text']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176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12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997A-244E-35E1-05CD-B773D827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 — Advanced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1B21-648B-96DC-0D6F-47917F625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43647" cy="4754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Partial Match Operators</a:t>
            </a:r>
          </a:p>
          <a:p>
            <a:pPr lvl="1"/>
            <a:r>
              <a:rPr lang="en-US" b="1" dirty="0"/>
              <a:t>Starts with (^=):</a:t>
            </a:r>
            <a:r>
              <a:rPr lang="en-US" dirty="0"/>
              <a:t> input[name^='user_'] </a:t>
            </a:r>
            <a:r>
              <a:rPr lang="en-US" i="1" dirty="0"/>
              <a:t>(Matches user_1, user_2)</a:t>
            </a:r>
            <a:endParaRPr lang="en-US" dirty="0"/>
          </a:p>
          <a:p>
            <a:pPr lvl="1"/>
            <a:r>
              <a:rPr lang="en-US" b="1" dirty="0"/>
              <a:t>Ends with ($=):</a:t>
            </a:r>
            <a:r>
              <a:rPr lang="en-US" dirty="0"/>
              <a:t> input[id$='_submit'] </a:t>
            </a:r>
            <a:r>
              <a:rPr lang="en-US" i="1" dirty="0"/>
              <a:t>(Matches </a:t>
            </a:r>
            <a:r>
              <a:rPr lang="en-US" i="1" dirty="0" err="1"/>
              <a:t>btn_submit</a:t>
            </a:r>
            <a:r>
              <a:rPr lang="en-US" i="1" dirty="0"/>
              <a:t>, </a:t>
            </a:r>
            <a:r>
              <a:rPr lang="en-US" i="1" dirty="0" err="1"/>
              <a:t>form_submit</a:t>
            </a:r>
            <a:r>
              <a:rPr lang="en-US" i="1" dirty="0"/>
              <a:t>)</a:t>
            </a:r>
            <a:endParaRPr lang="en-US" dirty="0"/>
          </a:p>
          <a:p>
            <a:pPr lvl="1"/>
            <a:r>
              <a:rPr lang="en-US" b="1" dirty="0"/>
              <a:t>Contains (*=):</a:t>
            </a:r>
            <a:r>
              <a:rPr lang="en-US" dirty="0"/>
              <a:t> div[class*='notification-'] </a:t>
            </a:r>
            <a:r>
              <a:rPr lang="en-US" i="1" dirty="0"/>
              <a:t>(Matches any class with notification- inside)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Node Relationships &amp; Hierarchy</a:t>
            </a:r>
          </a:p>
          <a:p>
            <a:pPr lvl="1"/>
            <a:r>
              <a:rPr lang="en-US" b="1" dirty="0"/>
              <a:t>Direct Child (&gt;):</a:t>
            </a:r>
            <a:r>
              <a:rPr lang="en-US" dirty="0"/>
              <a:t> </a:t>
            </a:r>
            <a:r>
              <a:rPr lang="en-US" dirty="0" err="1"/>
              <a:t>ul#menu</a:t>
            </a:r>
            <a:r>
              <a:rPr lang="en-US" dirty="0"/>
              <a:t> &gt; li</a:t>
            </a:r>
          </a:p>
          <a:p>
            <a:pPr lvl="1"/>
            <a:r>
              <a:rPr lang="en-US" b="1" dirty="0"/>
              <a:t>Descendant (Space):</a:t>
            </a:r>
            <a:r>
              <a:rPr lang="en-US" dirty="0"/>
              <a:t> </a:t>
            </a:r>
            <a:r>
              <a:rPr lang="en-US" dirty="0" err="1"/>
              <a:t>form#login</a:t>
            </a:r>
            <a:r>
              <a:rPr lang="en-US" dirty="0"/>
              <a:t> input </a:t>
            </a:r>
            <a:r>
              <a:rPr lang="en-US" i="1" dirty="0"/>
              <a:t>(Matches any &lt;input&gt; inside the form)</a:t>
            </a:r>
            <a:endParaRPr lang="en-US" dirty="0"/>
          </a:p>
          <a:p>
            <a:pPr lvl="1"/>
            <a:r>
              <a:rPr lang="en-US" b="1" dirty="0"/>
              <a:t>Sibling (+ / ~):</a:t>
            </a:r>
            <a:r>
              <a:rPr lang="en-US" dirty="0"/>
              <a:t> h2 + p </a:t>
            </a:r>
            <a:r>
              <a:rPr lang="en-US" i="1" dirty="0"/>
              <a:t>(Adjacent sibling)</a:t>
            </a:r>
            <a:r>
              <a:rPr lang="en-US" dirty="0"/>
              <a:t> | h2 ~ p </a:t>
            </a:r>
            <a:r>
              <a:rPr lang="en-US" i="1" dirty="0"/>
              <a:t>(General sibling)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3. Pseudo-Classes</a:t>
            </a:r>
          </a:p>
          <a:p>
            <a:pPr lvl="1"/>
            <a:r>
              <a:rPr lang="en-US" b="1" dirty="0"/>
              <a:t>Nth Child:</a:t>
            </a:r>
            <a:r>
              <a:rPr lang="en-US" dirty="0"/>
              <a:t> ul &gt; </a:t>
            </a:r>
            <a:r>
              <a:rPr lang="en-US" dirty="0" err="1"/>
              <a:t>li:nth-child</a:t>
            </a:r>
            <a:r>
              <a:rPr lang="en-US" dirty="0"/>
              <a:t>(3)</a:t>
            </a:r>
          </a:p>
          <a:p>
            <a:pPr lvl="1"/>
            <a:r>
              <a:rPr lang="en-US" b="1" dirty="0"/>
              <a:t>First &amp; Last Child:</a:t>
            </a:r>
            <a:r>
              <a:rPr lang="en-US" dirty="0"/>
              <a:t> </a:t>
            </a:r>
            <a:r>
              <a:rPr lang="en-US" dirty="0" err="1"/>
              <a:t>li:first-child</a:t>
            </a:r>
            <a:r>
              <a:rPr lang="en-US" dirty="0"/>
              <a:t>, </a:t>
            </a:r>
            <a:r>
              <a:rPr lang="en-US" dirty="0" err="1"/>
              <a:t>li:last-child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45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6125-7B09-FE40-FBED-3287FB80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XPath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CA083-453B-9FB1-1025-1F4DF66BC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896"/>
            <a:ext cx="10515600" cy="48579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XPath (XML Path Language) navigates through elements and attributes in an HTML/XML document.</a:t>
            </a:r>
          </a:p>
          <a:p>
            <a:pPr marL="0" indent="0">
              <a:buNone/>
            </a:pPr>
            <a:r>
              <a:rPr lang="en-US" sz="2400" b="1" dirty="0"/>
              <a:t>Basic Syntax</a:t>
            </a:r>
            <a:br>
              <a:rPr lang="en-US" sz="2400" dirty="0"/>
            </a:br>
            <a:r>
              <a:rPr lang="en-US" sz="2400" dirty="0"/>
              <a:t>//</a:t>
            </a:r>
            <a:r>
              <a:rPr lang="en-US" sz="2400" dirty="0" err="1"/>
              <a:t>tagname</a:t>
            </a:r>
            <a:r>
              <a:rPr lang="en-US" sz="2400" dirty="0"/>
              <a:t>[@attribute='value’]</a:t>
            </a:r>
            <a:br>
              <a:rPr lang="en-US" sz="2400" dirty="0"/>
            </a:br>
            <a:r>
              <a:rPr lang="en-US" sz="2400" dirty="0"/>
              <a:t>Example: //button[@type='submit']</a:t>
            </a:r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Absolute vs. Relative </a:t>
            </a:r>
            <a:r>
              <a:rPr lang="en-US" sz="2400" b="1" dirty="0" err="1"/>
              <a:t>xPath</a:t>
            </a:r>
            <a:r>
              <a:rPr lang="en-US" sz="2400" b="1" dirty="0"/>
              <a:t>:</a:t>
            </a:r>
          </a:p>
          <a:p>
            <a:r>
              <a:rPr lang="en-US" sz="2400" dirty="0"/>
              <a:t>Absolute XPath (Avoid in Automation): /html/body/div[1]/div[2]/form/div[3]/input</a:t>
            </a:r>
            <a:br>
              <a:rPr lang="en-US" sz="2400" dirty="0"/>
            </a:br>
            <a:r>
              <a:rPr lang="en-US" sz="2400" dirty="0"/>
              <a:t>❌ Fragile — breaks whenever any element is added, moved, or deleted in the DOM. </a:t>
            </a:r>
          </a:p>
          <a:p>
            <a:r>
              <a:rPr lang="en-US" sz="2400" dirty="0"/>
              <a:t>Relative XPath (Standard Practice): </a:t>
            </a:r>
            <a:br>
              <a:rPr lang="en-US" sz="2400" dirty="0"/>
            </a:br>
            <a:r>
              <a:rPr lang="en-US" sz="2400" dirty="0"/>
              <a:t>//input[@id='username’] </a:t>
            </a:r>
            <a:br>
              <a:rPr lang="en-US" sz="2400" dirty="0"/>
            </a:br>
            <a:r>
              <a:rPr lang="en-US" sz="2400" dirty="0"/>
              <a:t>✅ Robust — starts searching directly from anywhere in the document.</a:t>
            </a:r>
            <a:endParaRPr lang="en-US" sz="2400" b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942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B216-AD47-22A5-4CF9-260AC995E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5" y="195442"/>
            <a:ext cx="10515600" cy="1325563"/>
          </a:xfrm>
        </p:spPr>
        <p:txBody>
          <a:bodyPr/>
          <a:lstStyle/>
          <a:p>
            <a:r>
              <a:rPr lang="en-US" dirty="0"/>
              <a:t>Dynamic XPath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001CA-C8BB-C9F9-C9EA-147174EC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432"/>
            <a:ext cx="11011294" cy="51502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1. Dynamic Attribute Matching</a:t>
            </a:r>
          </a:p>
          <a:p>
            <a:pPr lvl="1"/>
            <a:r>
              <a:rPr lang="en-US" b="1" dirty="0"/>
              <a:t>contains()</a:t>
            </a:r>
            <a:r>
              <a:rPr lang="en-US" dirty="0"/>
              <a:t>: Handles dynamic IDs or classes generated by frameworks (React, Angular).</a:t>
            </a:r>
          </a:p>
          <a:p>
            <a:pPr marL="457200" lvl="1" indent="0">
              <a:buNone/>
            </a:pPr>
            <a:r>
              <a:rPr lang="en-US" dirty="0"/>
              <a:t>	//div[contains(@class, 'active-panel')]</a:t>
            </a:r>
          </a:p>
          <a:p>
            <a:pPr lvl="1"/>
            <a:r>
              <a:rPr lang="en-US" b="1" dirty="0"/>
              <a:t>starts-with()</a:t>
            </a:r>
            <a:r>
              <a:rPr lang="en-US" dirty="0"/>
              <a:t>: Matches attributes with dynamic suffixes.</a:t>
            </a:r>
          </a:p>
          <a:p>
            <a:pPr marL="457200" lvl="1" indent="0">
              <a:buNone/>
            </a:pPr>
            <a:r>
              <a:rPr lang="en-US" dirty="0"/>
              <a:t>	//input[starts-with(@id, '</a:t>
            </a:r>
            <a:r>
              <a:rPr lang="en-US" dirty="0" err="1"/>
              <a:t>user_input</a:t>
            </a:r>
            <a:r>
              <a:rPr lang="en-US" dirty="0"/>
              <a:t>_')]</a:t>
            </a:r>
          </a:p>
          <a:p>
            <a:pPr marL="0" indent="0">
              <a:buNone/>
            </a:pPr>
            <a:r>
              <a:rPr lang="en-US" sz="2400" b="1" dirty="0"/>
              <a:t>2. Matching Text Content</a:t>
            </a:r>
          </a:p>
          <a:p>
            <a:pPr lvl="1"/>
            <a:r>
              <a:rPr lang="en-US" b="1" dirty="0"/>
              <a:t>Exact Text Match:</a:t>
            </a:r>
            <a:r>
              <a:rPr lang="en-US" dirty="0"/>
              <a:t> //button[text()='Log In']</a:t>
            </a:r>
          </a:p>
          <a:p>
            <a:pPr lvl="1"/>
            <a:r>
              <a:rPr lang="en-US" b="1" dirty="0"/>
              <a:t>Partial Text Match:</a:t>
            </a:r>
            <a:r>
              <a:rPr lang="en-US" dirty="0"/>
              <a:t> //span[contains(text(), 'Order #')]</a:t>
            </a:r>
          </a:p>
          <a:p>
            <a:pPr lvl="1"/>
            <a:r>
              <a:rPr lang="en-US" b="1" dirty="0"/>
              <a:t>Normalized Space:</a:t>
            </a:r>
            <a:r>
              <a:rPr lang="en-US" dirty="0"/>
              <a:t> //button[normalize-space(text())='Submit']</a:t>
            </a:r>
          </a:p>
          <a:p>
            <a:pPr marL="0" indent="0">
              <a:buNone/>
            </a:pPr>
            <a:r>
              <a:rPr lang="en-US" sz="2400" b="1" dirty="0"/>
              <a:t>3. Logical Operators (AND / OR)</a:t>
            </a:r>
          </a:p>
          <a:p>
            <a:pPr marL="457200" lvl="1" indent="0">
              <a:buNone/>
            </a:pPr>
            <a:r>
              <a:rPr lang="en-US" dirty="0"/>
              <a:t>//input[@type='text' and @name='email']</a:t>
            </a:r>
          </a:p>
          <a:p>
            <a:pPr marL="457200" lvl="1" indent="0">
              <a:buNone/>
            </a:pPr>
            <a:r>
              <a:rPr lang="en-US" dirty="0"/>
              <a:t>//button[@id='submit' or @name='btnSubmit']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807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165D-AA65-8A98-EC09-45B21BCC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XPath Axes (Navigating Complex DOMs)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55AB-EC46-5D77-15A7-831640A7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XPath Axes allow bidirectional navigation across the DOM hierarchy (Up, Down, Siblings).</a:t>
            </a:r>
          </a:p>
          <a:p>
            <a:pPr marL="0" indent="0">
              <a:buNone/>
            </a:pPr>
            <a:r>
              <a:rPr lang="en-US" dirty="0"/>
              <a:t>			Ancestor (//form)</a:t>
            </a:r>
          </a:p>
          <a:p>
            <a:pPr marL="0" indent="0">
              <a:buNone/>
            </a:pPr>
            <a:r>
              <a:rPr lang="en-US" dirty="0"/>
              <a:t>                   			│</a:t>
            </a:r>
          </a:p>
          <a:p>
            <a:pPr marL="0" indent="0">
              <a:buNone/>
            </a:pPr>
            <a:r>
              <a:rPr lang="en-US" dirty="0"/>
              <a:t>               		Parent (//div)</a:t>
            </a:r>
          </a:p>
          <a:p>
            <a:pPr marL="0" indent="0">
              <a:buNone/>
            </a:pPr>
            <a:r>
              <a:rPr lang="en-US" dirty="0"/>
              <a:t>                   			│</a:t>
            </a:r>
          </a:p>
          <a:p>
            <a:pPr marL="0" indent="0">
              <a:buNone/>
            </a:pPr>
            <a:r>
              <a:rPr lang="en-US" dirty="0"/>
              <a:t>	Preceding-Sibling ─ Context Node (//input) ─ Following-Sibling</a:t>
            </a:r>
          </a:p>
          <a:p>
            <a:pPr marL="0" indent="0">
              <a:buNone/>
            </a:pPr>
            <a:r>
              <a:rPr lang="en-US" dirty="0"/>
              <a:t>                   			│</a:t>
            </a:r>
          </a:p>
          <a:p>
            <a:pPr marL="0" indent="0">
              <a:buNone/>
            </a:pPr>
            <a:r>
              <a:rPr lang="en-US" dirty="0"/>
              <a:t>                 		    Child</a:t>
            </a:r>
          </a:p>
          <a:p>
            <a:pPr marL="0" indent="0">
              <a:buNone/>
            </a:pPr>
            <a:r>
              <a:rPr lang="en-US" dirty="0"/>
              <a:t>                   			│</a:t>
            </a:r>
          </a:p>
          <a:p>
            <a:pPr marL="0" indent="0">
              <a:buNone/>
            </a:pPr>
            <a:r>
              <a:rPr lang="en-US" dirty="0"/>
              <a:t>              		   Descendant</a:t>
            </a:r>
          </a:p>
        </p:txBody>
      </p:sp>
    </p:spTree>
    <p:extLst>
      <p:ext uri="{BB962C8B-B14F-4D97-AF65-F5344CB8AC3E}">
        <p14:creationId xmlns:p14="http://schemas.microsoft.com/office/powerpoint/2010/main" val="103407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F734-179C-CEAF-9A31-DFEF2D5A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Axes Syntax &amp;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33B4-7621-B41B-5766-0AB8E80D6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Parent (/parent:: or /..):</a:t>
            </a:r>
          </a:p>
          <a:p>
            <a:pPr marL="0" indent="0">
              <a:buNone/>
            </a:pPr>
            <a:r>
              <a:rPr lang="en-US" dirty="0"/>
              <a:t>	//input[@id='email']/parent::div</a:t>
            </a:r>
          </a:p>
          <a:p>
            <a:r>
              <a:rPr lang="en-US" dirty="0"/>
              <a:t>Following Sibling (/following-sibling::):</a:t>
            </a:r>
          </a:p>
          <a:p>
            <a:pPr marL="0" indent="0">
              <a:buNone/>
            </a:pPr>
            <a:r>
              <a:rPr lang="en-US" dirty="0"/>
              <a:t>	//td[text()='Total']/following-sibling::td[1]</a:t>
            </a:r>
          </a:p>
          <a:p>
            <a:r>
              <a:rPr lang="en-US" dirty="0"/>
              <a:t>Preceding Sibling (/preceding-sibling::):</a:t>
            </a:r>
          </a:p>
          <a:p>
            <a:pPr marL="0" indent="0">
              <a:buNone/>
            </a:pPr>
            <a:r>
              <a:rPr lang="en-US" dirty="0"/>
              <a:t>	//input[@id='chk-agree']/preceding-sibling::label</a:t>
            </a:r>
          </a:p>
          <a:p>
            <a:r>
              <a:rPr lang="en-US" dirty="0"/>
              <a:t>Ancestor (/ancestor::):</a:t>
            </a:r>
          </a:p>
          <a:p>
            <a:pPr marL="0" indent="0">
              <a:buNone/>
            </a:pPr>
            <a:r>
              <a:rPr lang="en-US" dirty="0"/>
              <a:t>	//button[@id='delete']/ancestor::tr</a:t>
            </a:r>
          </a:p>
        </p:txBody>
      </p:sp>
    </p:spTree>
    <p:extLst>
      <p:ext uri="{BB962C8B-B14F-4D97-AF65-F5344CB8AC3E}">
        <p14:creationId xmlns:p14="http://schemas.microsoft.com/office/powerpoint/2010/main" val="83614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563F-0760-50E9-5B77-EEE7E192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</p:spPr>
        <p:txBody>
          <a:bodyPr/>
          <a:lstStyle/>
          <a:p>
            <a:r>
              <a:rPr lang="en-US" dirty="0"/>
              <a:t>CSS Selectors vs. XPath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C913B9-62CF-4DB2-620E-94658E1B06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370"/>
          <a:ext cx="10515600" cy="3870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0610176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593959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598105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CSS Selectors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XPath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47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Execution Speed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Faster (Native browser engine)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Slightly slower in older engines (negligible today)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79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Syntax Readability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Clean, concise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become verbose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03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DOM Navigation Direction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Top-down only (Parent to Child)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Bidirectional (Parent to Child, Child to Parent)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315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Locate by Visible Text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 Not supported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 Supported (</a:t>
                      </a: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text()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contains()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433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Cross-Browser Consistency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100% Consistent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High, but minor variance in legacy engines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73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Shadow DOM Support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 Native Support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 Not supported directly in open shadow roots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863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415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F4C9-6841-2959-49FF-B2E6C563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Test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356A-BDFE-A2BD-25DD-1EC3A4680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Prioritize Stable Attributes:</a:t>
            </a:r>
          </a:p>
          <a:p>
            <a:pPr marL="0" indent="0">
              <a:buNone/>
            </a:pPr>
            <a:r>
              <a:rPr lang="en-US" dirty="0"/>
              <a:t>    Always prefer custom automation IDs added by developers (data-</a:t>
            </a:r>
            <a:r>
              <a:rPr lang="en-US" dirty="0" err="1"/>
              <a:t>testid</a:t>
            </a:r>
            <a:r>
              <a:rPr lang="en-US" dirty="0"/>
              <a:t>, data-cy, </a:t>
            </a:r>
            <a:r>
              <a:rPr lang="en-US" dirty="0" err="1"/>
              <a:t>qa</a:t>
            </a:r>
            <a:r>
              <a:rPr lang="en-US" dirty="0"/>
              <a:t>-id).</a:t>
            </a:r>
          </a:p>
          <a:p>
            <a:r>
              <a:rPr lang="en-US" dirty="0"/>
              <a:t>Avoid Index-Based Locators:</a:t>
            </a:r>
          </a:p>
          <a:p>
            <a:pPr marL="0" indent="0">
              <a:buNone/>
            </a:pPr>
            <a:r>
              <a:rPr lang="en-US" dirty="0"/>
              <a:t>    Avoid (//button)[3] or </a:t>
            </a:r>
            <a:r>
              <a:rPr lang="en-US" dirty="0" err="1"/>
              <a:t>div:nth-child</a:t>
            </a:r>
            <a:r>
              <a:rPr lang="en-US" dirty="0"/>
              <a:t>(7). They break when page structure changes.</a:t>
            </a:r>
          </a:p>
          <a:p>
            <a:r>
              <a:rPr lang="en-US" dirty="0"/>
              <a:t>Keep Locators Short &amp; Contextual:</a:t>
            </a:r>
          </a:p>
          <a:p>
            <a:pPr marL="0" indent="0">
              <a:buNone/>
            </a:pPr>
            <a:r>
              <a:rPr lang="en-US" dirty="0"/>
              <a:t>    Locate relative to a stable parent component rather than navigating from the root.</a:t>
            </a:r>
          </a:p>
          <a:p>
            <a:r>
              <a:rPr lang="en-US" dirty="0"/>
              <a:t>Avoid Autogenerated Locators:</a:t>
            </a:r>
          </a:p>
          <a:p>
            <a:pPr marL="0" indent="0">
              <a:buNone/>
            </a:pPr>
            <a:r>
              <a:rPr lang="en-US" dirty="0"/>
              <a:t>    Do not copy raw XPath/CSS directly from Browser </a:t>
            </a:r>
            <a:r>
              <a:rPr lang="en-US" dirty="0" err="1"/>
              <a:t>DevTools</a:t>
            </a:r>
            <a:r>
              <a:rPr lang="en-US" dirty="0"/>
              <a:t> inspection tools.</a:t>
            </a:r>
          </a:p>
          <a:p>
            <a:r>
              <a:rPr lang="en-US" dirty="0"/>
              <a:t>Use Wait Strategies:</a:t>
            </a:r>
          </a:p>
          <a:p>
            <a:pPr marL="0" indent="0">
              <a:buNone/>
            </a:pPr>
            <a:r>
              <a:rPr lang="en-US" dirty="0"/>
              <a:t>    Combine robust locators with </a:t>
            </a:r>
            <a:r>
              <a:rPr lang="en-US" dirty="0" err="1"/>
              <a:t>WebDriverWait</a:t>
            </a:r>
            <a:r>
              <a:rPr lang="en-US" dirty="0"/>
              <a:t> (Explicit Waits) to handle dynamic DOM.</a:t>
            </a:r>
          </a:p>
        </p:txBody>
      </p:sp>
    </p:spTree>
    <p:extLst>
      <p:ext uri="{BB962C8B-B14F-4D97-AF65-F5344CB8AC3E}">
        <p14:creationId xmlns:p14="http://schemas.microsoft.com/office/powerpoint/2010/main" val="7593340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</TotalTime>
  <Words>941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Google Sans Text</vt:lpstr>
      <vt:lpstr>Wingdings 3</vt:lpstr>
      <vt:lpstr>Ion</vt:lpstr>
      <vt:lpstr>Web Element Locators: CSS Selectors &amp; XPath in Selenium </vt:lpstr>
      <vt:lpstr>Element locators</vt:lpstr>
      <vt:lpstr>CSS Selectors — Basic Syntax</vt:lpstr>
      <vt:lpstr>CSS Selectors — Advanced Strategies</vt:lpstr>
      <vt:lpstr>Introduction to XPath</vt:lpstr>
      <vt:lpstr>Dynamic XPath Strategies</vt:lpstr>
      <vt:lpstr>XPath Axes (Navigating Complex DOMs)</vt:lpstr>
      <vt:lpstr>Common Axes Syntax &amp; Examples</vt:lpstr>
      <vt:lpstr>CSS Selectors vs. XPath Comparison</vt:lpstr>
      <vt:lpstr>Best Practices for Test Automation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Vidhiya Lakshmi S</dc:creator>
  <cp:lastModifiedBy>Vidhiya Lakshmi S</cp:lastModifiedBy>
  <cp:revision>9</cp:revision>
  <dcterms:created xsi:type="dcterms:W3CDTF">2026-08-06T16:14:52Z</dcterms:created>
  <dcterms:modified xsi:type="dcterms:W3CDTF">2026-08-07T05:49:53Z</dcterms:modified>
</cp:coreProperties>
</file>