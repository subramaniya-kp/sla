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90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98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856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5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3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927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40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5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15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790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62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0747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23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63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55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452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98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2C5207D-AC60-43E3-A540-389DF0DC0A32}" type="datetimeFigureOut">
              <a:rPr lang="en-US" smtClean="0"/>
              <a:t>19-Aug-26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2539E-F519-4783-ADC7-1ADD5EDA8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603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D832B-66CE-0D0C-D461-8D7EAC097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947" y="1684695"/>
            <a:ext cx="8825658" cy="1348380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Windows Handling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B2A275-B89A-8B29-B61E-6BF0D0C204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-</a:t>
            </a:r>
            <a:r>
              <a:rPr lang="en-US" dirty="0" err="1"/>
              <a:t>Subramaniya</a:t>
            </a:r>
            <a:r>
              <a:rPr lang="en-US" dirty="0"/>
              <a:t> KP</a:t>
            </a:r>
          </a:p>
        </p:txBody>
      </p:sp>
    </p:spTree>
    <p:extLst>
      <p:ext uri="{BB962C8B-B14F-4D97-AF65-F5344CB8AC3E}">
        <p14:creationId xmlns:p14="http://schemas.microsoft.com/office/powerpoint/2010/main" val="1229298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79DEE-9B76-AF75-A417-9EA87457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17A8B-FCCD-8D92-5A74-0F0369066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946541" cy="2453094"/>
          </a:xfrm>
        </p:spPr>
        <p:txBody>
          <a:bodyPr/>
          <a:lstStyle/>
          <a:p>
            <a:r>
              <a:rPr lang="en-US" dirty="0"/>
              <a:t>Every browser window/tab opened by WebDriver is assigned a unique alphanumeric ID called a </a:t>
            </a:r>
            <a:r>
              <a:rPr lang="en-US" b="1" dirty="0"/>
              <a:t>Window Handle</a:t>
            </a:r>
            <a:r>
              <a:rPr lang="en-US" dirty="0"/>
              <a:t>.</a:t>
            </a:r>
          </a:p>
          <a:p>
            <a:r>
              <a:rPr lang="en-US" dirty="0"/>
              <a:t>WebDriver operates on </a:t>
            </a:r>
            <a:r>
              <a:rPr lang="en-US" b="1" dirty="0"/>
              <a:t>one window at a time</a:t>
            </a:r>
            <a:r>
              <a:rPr lang="en-US" dirty="0"/>
              <a:t> (the currently focused window).</a:t>
            </a:r>
          </a:p>
          <a:p>
            <a:r>
              <a:rPr lang="en-US" dirty="0"/>
              <a:t>Opening a new window or tab </a:t>
            </a:r>
            <a:r>
              <a:rPr lang="en-US" b="1" dirty="0"/>
              <a:t>does NOT automatically switch WebDriver focus</a:t>
            </a:r>
            <a:r>
              <a:rPr lang="en-US" dirty="0"/>
              <a:t>. You must explicitly switch focus using code.</a:t>
            </a:r>
          </a:p>
        </p:txBody>
      </p:sp>
    </p:spTree>
    <p:extLst>
      <p:ext uri="{BB962C8B-B14F-4D97-AF65-F5344CB8AC3E}">
        <p14:creationId xmlns:p14="http://schemas.microsoft.com/office/powerpoint/2010/main" val="227345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8660-CA48-EF0E-8E28-90EA5F94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69072"/>
          </a:xfrm>
        </p:spPr>
        <p:txBody>
          <a:bodyPr/>
          <a:lstStyle/>
          <a:p>
            <a:r>
              <a:rPr lang="en-US" sz="3200" dirty="0"/>
              <a:t>Different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9A600-C2ED-9DA1-0B9B-A25D89379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21790"/>
            <a:ext cx="11152695" cy="50551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b="1" dirty="0" err="1"/>
              <a:t>getWindowHandle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/>
              <a:t>	Return Type:</a:t>
            </a:r>
            <a:r>
              <a:rPr lang="en-US" dirty="0"/>
              <a:t> String</a:t>
            </a:r>
          </a:p>
          <a:p>
            <a:pPr marL="0" indent="0">
              <a:buNone/>
            </a:pPr>
            <a:r>
              <a:rPr lang="en-US" b="1" dirty="0"/>
              <a:t>	Description:</a:t>
            </a:r>
            <a:r>
              <a:rPr lang="en-US" dirty="0"/>
              <a:t> Retrieves the unique alphanumeric handle ID of the currently active 	window or tab.</a:t>
            </a:r>
          </a:p>
          <a:p>
            <a:pPr marL="0" indent="0">
              <a:buNone/>
            </a:pPr>
            <a:r>
              <a:rPr lang="en-US" b="1" dirty="0"/>
              <a:t>2. </a:t>
            </a:r>
            <a:r>
              <a:rPr lang="en-US" b="1" dirty="0" err="1"/>
              <a:t>getWindowHandles</a:t>
            </a:r>
            <a:r>
              <a:rPr lang="en-US" b="1" dirty="0"/>
              <a:t>()</a:t>
            </a:r>
          </a:p>
          <a:p>
            <a:pPr marL="0" indent="0">
              <a:buNone/>
            </a:pPr>
            <a:r>
              <a:rPr lang="en-US" b="1" dirty="0"/>
              <a:t>	Return Type:</a:t>
            </a:r>
            <a:r>
              <a:rPr lang="en-US" dirty="0"/>
              <a:t> Set&lt;String&gt;</a:t>
            </a:r>
          </a:p>
          <a:p>
            <a:pPr marL="0" indent="0">
              <a:buNone/>
            </a:pPr>
            <a:r>
              <a:rPr lang="en-US" b="1" dirty="0"/>
              <a:t>	Description:</a:t>
            </a:r>
            <a:r>
              <a:rPr lang="en-US" dirty="0"/>
              <a:t> Returns a Set of all unique handle IDs for every open browser 	window/tab under WebDriver control.</a:t>
            </a:r>
          </a:p>
          <a:p>
            <a:pPr marL="0" indent="0">
              <a:buNone/>
            </a:pPr>
            <a:r>
              <a:rPr lang="en-US" b="1" dirty="0"/>
              <a:t>3. </a:t>
            </a:r>
            <a:r>
              <a:rPr lang="en-US" b="1" dirty="0" err="1"/>
              <a:t>switchTo</a:t>
            </a:r>
            <a:r>
              <a:rPr lang="en-US" b="1" dirty="0"/>
              <a:t>().window(String </a:t>
            </a:r>
            <a:r>
              <a:rPr lang="en-US" b="1" dirty="0" err="1"/>
              <a:t>windowHandle</a:t>
            </a:r>
            <a:r>
              <a:rPr lang="en-US" b="1" dirty="0"/>
              <a:t>)</a:t>
            </a:r>
          </a:p>
          <a:p>
            <a:pPr marL="0" indent="0">
              <a:buNone/>
            </a:pPr>
            <a:r>
              <a:rPr lang="en-US" b="1" dirty="0"/>
              <a:t>	Return Type:</a:t>
            </a:r>
            <a:r>
              <a:rPr lang="en-US" dirty="0"/>
              <a:t> WebDriver</a:t>
            </a:r>
          </a:p>
          <a:p>
            <a:pPr marL="0" indent="0">
              <a:buNone/>
            </a:pPr>
            <a:r>
              <a:rPr lang="en-US" b="1" dirty="0"/>
              <a:t>	Description:</a:t>
            </a:r>
            <a:r>
              <a:rPr lang="en-US" dirty="0"/>
              <a:t> Switches the driver's target focus to the browser window or tab matching 	the specified handle ID.</a:t>
            </a:r>
          </a:p>
        </p:txBody>
      </p:sp>
    </p:spTree>
    <p:extLst>
      <p:ext uri="{BB962C8B-B14F-4D97-AF65-F5344CB8AC3E}">
        <p14:creationId xmlns:p14="http://schemas.microsoft.com/office/powerpoint/2010/main" val="82112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997A-244E-35E1-05CD-B773D827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07621"/>
            <a:ext cx="9404723" cy="753913"/>
          </a:xfrm>
        </p:spPr>
        <p:txBody>
          <a:bodyPr/>
          <a:lstStyle/>
          <a:p>
            <a:r>
              <a:rPr lang="en-US" dirty="0"/>
              <a:t>Parent Vs Child windows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1B21-648B-96DC-0D6F-47917F625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84082"/>
            <a:ext cx="10643647" cy="5495827"/>
          </a:xfrm>
        </p:spPr>
        <p:txBody>
          <a:bodyPr>
            <a:normAutofit/>
          </a:bodyPr>
          <a:lstStyle/>
          <a:p>
            <a:r>
              <a:rPr lang="en-US" b="1" dirty="0"/>
              <a:t>Parent Window</a:t>
            </a:r>
          </a:p>
          <a:p>
            <a:pPr marL="0" indent="0">
              <a:buNone/>
            </a:pPr>
            <a:r>
              <a:rPr lang="en-US" b="1" dirty="0"/>
              <a:t>	Definition:</a:t>
            </a:r>
            <a:r>
              <a:rPr lang="en-US" dirty="0"/>
              <a:t> The initial browser window opened when </a:t>
            </a:r>
            <a:r>
              <a:rPr lang="en-US" dirty="0" err="1"/>
              <a:t>driver.get</a:t>
            </a:r>
            <a:r>
              <a:rPr lang="en-US" dirty="0"/>
              <a:t>("URL") is executed.</a:t>
            </a:r>
          </a:p>
          <a:p>
            <a:pPr marL="0" indent="0">
              <a:buNone/>
            </a:pPr>
            <a:r>
              <a:rPr lang="en-US" b="1" dirty="0"/>
              <a:t>	Code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String </a:t>
            </a:r>
            <a:r>
              <a:rPr lang="en-US" i="1" dirty="0" err="1"/>
              <a:t>parentWindowHandle</a:t>
            </a:r>
            <a:r>
              <a:rPr lang="en-US" i="1" dirty="0"/>
              <a:t> = </a:t>
            </a:r>
            <a:r>
              <a:rPr lang="en-US" i="1" dirty="0" err="1"/>
              <a:t>driver.getWindowHandle</a:t>
            </a:r>
            <a:r>
              <a:rPr lang="en-US" i="1" dirty="0"/>
              <a:t>();</a:t>
            </a:r>
          </a:p>
          <a:p>
            <a:r>
              <a:rPr lang="en-US" b="1" dirty="0"/>
              <a:t>Child Window</a:t>
            </a:r>
          </a:p>
          <a:p>
            <a:pPr marL="0" indent="0">
              <a:buNone/>
            </a:pPr>
            <a:r>
              <a:rPr lang="en-US" b="1" dirty="0"/>
              <a:t>	Definition:</a:t>
            </a:r>
            <a:r>
              <a:rPr lang="en-US" dirty="0"/>
              <a:t> Any secondary window or tab opened via links (target="_blank"), 	popups, or JavaScript.</a:t>
            </a:r>
          </a:p>
          <a:p>
            <a:pPr marL="0" indent="0">
              <a:buNone/>
            </a:pPr>
            <a:r>
              <a:rPr lang="en-US" b="1" dirty="0"/>
              <a:t>	Code Example: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i="1" dirty="0"/>
              <a:t>Set&lt;String&gt; </a:t>
            </a:r>
            <a:r>
              <a:rPr lang="en-US" i="1" dirty="0" err="1"/>
              <a:t>allWindowHandles</a:t>
            </a:r>
            <a:r>
              <a:rPr lang="en-US" i="1" dirty="0"/>
              <a:t> = </a:t>
            </a:r>
            <a:r>
              <a:rPr lang="en-US" i="1" dirty="0" err="1"/>
              <a:t>driver.getWindowHandles</a:t>
            </a:r>
            <a:r>
              <a:rPr lang="en-US" i="1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454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06125-7B09-FE40-FBED-3287FB807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169914"/>
            <a:ext cx="9404723" cy="735059"/>
          </a:xfrm>
        </p:spPr>
        <p:txBody>
          <a:bodyPr/>
          <a:lstStyle/>
          <a:p>
            <a:r>
              <a:rPr lang="en-US" b="1" dirty="0"/>
              <a:t>Basic Switching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CA083-453B-9FB1-1025-1F4DF66BC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932" y="904973"/>
            <a:ext cx="10515600" cy="56915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// Step 1: Capture and save parent window handle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String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parentHandle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driver.getWindowHandle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400" dirty="0"/>
              <a:t>// Step 2: Trigger element click that opens a child window/tab</a:t>
            </a:r>
          </a:p>
          <a:p>
            <a:pPr marL="0" indent="0">
              <a:buNone/>
            </a:pP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driver.findElement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(By.id("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openTabButton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")).click();</a:t>
            </a:r>
          </a:p>
          <a:p>
            <a:pPr marL="0" indent="0">
              <a:buNone/>
            </a:pPr>
            <a:r>
              <a:rPr lang="en-US" sz="1400" dirty="0"/>
              <a:t>// Step 3: Retrieve all active window handles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Set&lt;String&gt;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allHandles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=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driver.getWindowHandles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();</a:t>
            </a:r>
          </a:p>
          <a:p>
            <a:pPr marL="0" indent="0">
              <a:buNone/>
            </a:pPr>
            <a:r>
              <a:rPr lang="en-US" sz="1400" dirty="0"/>
              <a:t>// Step 4: Iterate and switch focus to the child window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for (String handle :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allHandles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 {   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if (!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handle.equals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parentHandle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))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{       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driver.switchTo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().window(handle);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      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System.out.println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("Child Title: " + 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driver.getTitle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());                </a:t>
            </a:r>
          </a:p>
          <a:p>
            <a:pPr marL="0" indent="0">
              <a:buNone/>
            </a:pPr>
            <a:r>
              <a:rPr lang="en-US" sz="1400" dirty="0"/>
              <a:t>// Perform test actions on child page                </a:t>
            </a:r>
          </a:p>
          <a:p>
            <a:pPr marL="0" indent="0">
              <a:buNone/>
            </a:pPr>
            <a:r>
              <a:rPr lang="en-US" sz="1400" dirty="0"/>
              <a:t>// Step 5: Close child window  </a:t>
            </a:r>
          </a:p>
          <a:p>
            <a:pPr marL="0" indent="0">
              <a:buNone/>
            </a:pP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driver.close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();    }}</a:t>
            </a:r>
          </a:p>
          <a:p>
            <a:pPr marL="0" indent="0">
              <a:buNone/>
            </a:pPr>
            <a:r>
              <a:rPr lang="en-US" sz="1400" dirty="0"/>
              <a:t>// Step 6: Switch focus back to the parent window</a:t>
            </a:r>
          </a:p>
          <a:p>
            <a:pPr marL="0" indent="0">
              <a:buNone/>
            </a:pP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driver.switchTo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().window(</a:t>
            </a:r>
            <a:r>
              <a:rPr lang="en-US" sz="1400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parentHandle</a:t>
            </a:r>
            <a:r>
              <a:rPr lang="en-US" sz="1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239427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B216-AD47-22A5-4CF9-260AC995E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05" y="195443"/>
            <a:ext cx="10515600" cy="832080"/>
          </a:xfrm>
        </p:spPr>
        <p:txBody>
          <a:bodyPr/>
          <a:lstStyle/>
          <a:p>
            <a:r>
              <a:rPr lang="en-US" b="1"/>
              <a:t>driver.close</a:t>
            </a:r>
            <a:r>
              <a:rPr lang="en-US" b="1" dirty="0"/>
              <a:t>() vs </a:t>
            </a:r>
            <a:r>
              <a:rPr lang="en-US" b="1" dirty="0" err="1"/>
              <a:t>driver.quit</a:t>
            </a:r>
            <a:r>
              <a:rPr lang="en-US" b="1" dirty="0"/>
              <a:t>()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61CF59-C15B-994B-743D-2B673BEC18B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63971" y="1477169"/>
          <a:ext cx="8752983" cy="3649664"/>
        </p:xfrm>
        <a:graphic>
          <a:graphicData uri="http://schemas.openxmlformats.org/drawingml/2006/table">
            <a:tbl>
              <a:tblPr/>
              <a:tblGrid>
                <a:gridCol w="2917661">
                  <a:extLst>
                    <a:ext uri="{9D8B030D-6E8A-4147-A177-3AD203B41FA5}">
                      <a16:colId xmlns:a16="http://schemas.microsoft.com/office/drawing/2014/main" val="3145353714"/>
                    </a:ext>
                  </a:extLst>
                </a:gridCol>
                <a:gridCol w="2917661">
                  <a:extLst>
                    <a:ext uri="{9D8B030D-6E8A-4147-A177-3AD203B41FA5}">
                      <a16:colId xmlns:a16="http://schemas.microsoft.com/office/drawing/2014/main" val="1134436500"/>
                    </a:ext>
                  </a:extLst>
                </a:gridCol>
                <a:gridCol w="2917661">
                  <a:extLst>
                    <a:ext uri="{9D8B030D-6E8A-4147-A177-3AD203B41FA5}">
                      <a16:colId xmlns:a16="http://schemas.microsoft.com/office/drawing/2014/main" val="1166584623"/>
                    </a:ext>
                  </a:extLst>
                </a:gridCol>
              </a:tblGrid>
              <a:tr h="357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Feature / Operation</a:t>
                      </a:r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driver.close()</a:t>
                      </a:r>
                      <a:endParaRPr lang="en-US" sz="1800"/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latin typeface="Courier New" panose="02070309020205020404" pitchFamily="49" charset="0"/>
                        </a:rPr>
                        <a:t>driver.quit()</a:t>
                      </a:r>
                      <a:endParaRPr lang="en-US" sz="1800"/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878863"/>
                  </a:ext>
                </a:extLst>
              </a:tr>
              <a:tr h="1162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Action Scope</a:t>
                      </a:r>
                      <a:endParaRPr lang="en-US" sz="1800"/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Closes ONLY the currently focused window/tab.</a:t>
                      </a:r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Closes ALL open windows/tabs associated with the driver session.</a:t>
                      </a:r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360402"/>
                  </a:ext>
                </a:extLst>
              </a:tr>
              <a:tr h="8945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Session Lifecycle</a:t>
                      </a:r>
                      <a:endParaRPr lang="en-US" sz="1800"/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Keeps WebDriver session active if other windows remain open.</a:t>
                      </a:r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Terminates the entire WebDriver session and stops driver service.</a:t>
                      </a:r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5358392"/>
                  </a:ext>
                </a:extLst>
              </a:tr>
              <a:tr h="11629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Best Use Case</a:t>
                      </a:r>
                      <a:endParaRPr lang="en-US" sz="1800"/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Closing child popups or secondary tabs after extracting data.</a:t>
                      </a:r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Teardown phase in testing frameworks (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@AfterMethod</a:t>
                      </a:r>
                      <a:r>
                        <a:rPr lang="en-US" sz="1800" dirty="0"/>
                        <a:t> / 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@AfterClass</a:t>
                      </a:r>
                      <a:r>
                        <a:rPr lang="en-US" sz="1800" dirty="0"/>
                        <a:t>).</a:t>
                      </a:r>
                    </a:p>
                  </a:txBody>
                  <a:tcPr marL="89456" marR="89456" marT="44728" marB="4472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984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07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6165D-AA65-8A98-EC09-45B21BCCA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242070"/>
            <a:ext cx="9404723" cy="735059"/>
          </a:xfrm>
        </p:spPr>
        <p:txBody>
          <a:bodyPr/>
          <a:lstStyle/>
          <a:p>
            <a:r>
              <a:rPr lang="en-US" dirty="0"/>
              <a:t>Exceptions and Resolutions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F55AB-EC46-5D77-15A7-831640A7C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20" y="1150070"/>
            <a:ext cx="8946541" cy="53811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</a:t>
            </a:r>
            <a:r>
              <a:rPr lang="en-US" b="1" dirty="0" err="1"/>
              <a:t>NoSuchWindowException</a:t>
            </a:r>
            <a:endParaRPr lang="en-US" b="1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	Cause:</a:t>
            </a:r>
            <a:r>
              <a:rPr lang="en-US" dirty="0"/>
              <a:t> Attempting to perform WebDriver actions after closing a child window without switching focus back to a valid window handle.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Solution:</a:t>
            </a:r>
            <a:r>
              <a:rPr lang="en-US" dirty="0"/>
              <a:t> Always call </a:t>
            </a:r>
            <a:r>
              <a:rPr lang="en-US" dirty="0" err="1"/>
              <a:t>driver.switchTo</a:t>
            </a:r>
            <a:r>
              <a:rPr lang="en-US" dirty="0"/>
              <a:t>().window(</a:t>
            </a:r>
            <a:r>
              <a:rPr lang="en-US" dirty="0" err="1"/>
              <a:t>parentHandle</a:t>
            </a:r>
            <a:r>
              <a:rPr lang="en-US" dirty="0"/>
              <a:t>) immediately after calling </a:t>
            </a:r>
            <a:r>
              <a:rPr lang="en-US" dirty="0" err="1"/>
              <a:t>driver.close</a:t>
            </a:r>
            <a:r>
              <a:rPr lang="en-US" dirty="0"/>
              <a:t>().</a:t>
            </a:r>
          </a:p>
          <a:p>
            <a:pPr marL="0" indent="0">
              <a:buNone/>
            </a:pPr>
            <a:r>
              <a:rPr lang="en-US" b="1" dirty="0"/>
              <a:t>2. Synchronization Lag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Cause:</a:t>
            </a:r>
            <a:r>
              <a:rPr lang="en-US" dirty="0"/>
              <a:t> Trying to retrieve handles before the browser finishes launching the new tab/window.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Solution:</a:t>
            </a:r>
            <a:r>
              <a:rPr lang="en-US" dirty="0"/>
              <a:t> Apply explicit wait using </a:t>
            </a:r>
            <a:r>
              <a:rPr lang="en-US" dirty="0" err="1"/>
              <a:t>ExpectedConditions.numberOfWindowsToBe</a:t>
            </a:r>
            <a:r>
              <a:rPr lang="en-US" dirty="0"/>
              <a:t>(n).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77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3F734-179C-CEAF-9A31-DFEF2D5A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69914"/>
            <a:ext cx="9404723" cy="678498"/>
          </a:xfrm>
        </p:spPr>
        <p:txBody>
          <a:bodyPr/>
          <a:lstStyle/>
          <a:p>
            <a:r>
              <a:rPr lang="en-US" b="1" dirty="0"/>
              <a:t>Window Switch Lifecycle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E33B4-7621-B41B-5766-0AB8E80D68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819" y="1227840"/>
            <a:ext cx="10152292" cy="4918436"/>
          </a:xfrm>
        </p:spPr>
        <p:txBody>
          <a:bodyPr>
            <a:noAutofit/>
          </a:bodyPr>
          <a:lstStyle/>
          <a:p>
            <a:r>
              <a:rPr lang="en-US" sz="2800" b="1" dirty="0"/>
              <a:t>Capture:</a:t>
            </a:r>
            <a:r>
              <a:rPr lang="en-US" sz="2800" dirty="0"/>
              <a:t> Store initial parent handle via </a:t>
            </a:r>
            <a:r>
              <a:rPr lang="en-US" sz="2800" dirty="0" err="1"/>
              <a:t>getWindowHandle</a:t>
            </a:r>
            <a:r>
              <a:rPr lang="en-US" sz="2800" dirty="0"/>
              <a:t>().</a:t>
            </a:r>
          </a:p>
          <a:p>
            <a:r>
              <a:rPr lang="en-US" sz="2800" b="1" dirty="0"/>
              <a:t>Trigger:</a:t>
            </a:r>
            <a:r>
              <a:rPr lang="en-US" sz="2800" dirty="0"/>
              <a:t> Perform user action (e.g., clicking a link/button) that opens a new tab.</a:t>
            </a:r>
          </a:p>
          <a:p>
            <a:r>
              <a:rPr lang="en-US" sz="2800" b="1" dirty="0"/>
              <a:t>Synchronize &amp; Switch:</a:t>
            </a:r>
            <a:r>
              <a:rPr lang="en-US" sz="2800" dirty="0"/>
              <a:t> Wait for window count to update, iterate </a:t>
            </a:r>
            <a:r>
              <a:rPr lang="en-US" sz="2800" dirty="0" err="1"/>
              <a:t>getWindowHandles</a:t>
            </a:r>
            <a:r>
              <a:rPr lang="en-US" sz="2800" dirty="0"/>
              <a:t>(), and call </a:t>
            </a:r>
            <a:r>
              <a:rPr lang="en-US" sz="2800" dirty="0" err="1"/>
              <a:t>switchTo</a:t>
            </a:r>
            <a:r>
              <a:rPr lang="en-US" sz="2800" dirty="0"/>
              <a:t>().window().</a:t>
            </a:r>
          </a:p>
          <a:p>
            <a:r>
              <a:rPr lang="en-US" sz="2800" b="1" dirty="0"/>
              <a:t>Interact &amp; Teardown:</a:t>
            </a:r>
            <a:r>
              <a:rPr lang="en-US" sz="2800" dirty="0"/>
              <a:t> Execute verification actions, call </a:t>
            </a:r>
            <a:r>
              <a:rPr lang="en-US" sz="2800" dirty="0" err="1"/>
              <a:t>driver.close</a:t>
            </a:r>
            <a:r>
              <a:rPr lang="en-US" sz="2800" dirty="0"/>
              <a:t>(), and restore focus to </a:t>
            </a:r>
            <a:r>
              <a:rPr lang="en-US" sz="2800" dirty="0" err="1"/>
              <a:t>parentHandle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3614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B563F-0760-50E9-5B77-EEE7E192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9531"/>
          </a:xfrm>
        </p:spPr>
        <p:txBody>
          <a:bodyPr/>
          <a:lstStyle/>
          <a:p>
            <a:r>
              <a:rPr lang="en-US" b="1" dirty="0"/>
              <a:t>Real-World Applications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47F547-CD55-57F4-AC81-97A337252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4" y="1583703"/>
            <a:ext cx="11049000" cy="5505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 OAuth &amp; Social Logins:</a:t>
            </a:r>
            <a:endParaRPr lang="en-US" sz="2400" dirty="0"/>
          </a:p>
          <a:p>
            <a:pPr lvl="1"/>
            <a:r>
              <a:rPr lang="en-US" sz="2400" dirty="0"/>
              <a:t>Switching to popup authentication windows (Google, Apple, Facebook SSO) and returning to the main app after login.</a:t>
            </a:r>
          </a:p>
          <a:p>
            <a:pPr marL="0" indent="0">
              <a:buNone/>
            </a:pPr>
            <a:r>
              <a:rPr lang="en-US" sz="2400" b="1" dirty="0"/>
              <a:t>2. Ad &amp; Promotional Popups:</a:t>
            </a:r>
            <a:endParaRPr lang="en-US" sz="2400" dirty="0"/>
          </a:p>
          <a:p>
            <a:pPr lvl="1"/>
            <a:r>
              <a:rPr lang="en-US" sz="2400" dirty="0"/>
              <a:t>Switching to dynamic promo popups to dismiss them or verify their presence during checkout workflows.</a:t>
            </a:r>
          </a:p>
          <a:p>
            <a:pPr marL="0" indent="0">
              <a:buNone/>
            </a:pPr>
            <a:r>
              <a:rPr lang="en-US" sz="2400" b="1" dirty="0"/>
              <a:t>3. External Navigation Links:</a:t>
            </a:r>
            <a:endParaRPr lang="en-US" sz="2400" dirty="0"/>
          </a:p>
          <a:p>
            <a:pPr lvl="1"/>
            <a:r>
              <a:rPr lang="en-US" sz="2400" dirty="0"/>
              <a:t>Verifying outbound links (e.g., Help Center, Terms of Service) opening in separate tabs without breaking main test flow.</a:t>
            </a:r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244155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125</TotalTime>
  <Words>718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Century Gothic</vt:lpstr>
      <vt:lpstr>Courier New</vt:lpstr>
      <vt:lpstr>Wingdings</vt:lpstr>
      <vt:lpstr>Wingdings 3</vt:lpstr>
      <vt:lpstr>Ion</vt:lpstr>
      <vt:lpstr>Windows Handling</vt:lpstr>
      <vt:lpstr>Concept</vt:lpstr>
      <vt:lpstr>Different methods</vt:lpstr>
      <vt:lpstr>Parent Vs Child windows</vt:lpstr>
      <vt:lpstr>Basic Switching Workflow</vt:lpstr>
      <vt:lpstr>driver.close() vs driver.quit()</vt:lpstr>
      <vt:lpstr>Exceptions and Resolutions</vt:lpstr>
      <vt:lpstr>Window Switch Lifecycle</vt:lpstr>
      <vt:lpstr>Real-World 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Vidhiya Lakshmi S</dc:creator>
  <cp:lastModifiedBy>Vidhiya Lakshmi S</cp:lastModifiedBy>
  <cp:revision>27</cp:revision>
  <dcterms:created xsi:type="dcterms:W3CDTF">2026-08-06T16:14:52Z</dcterms:created>
  <dcterms:modified xsi:type="dcterms:W3CDTF">2026-08-19T03:53:07Z</dcterms:modified>
</cp:coreProperties>
</file>